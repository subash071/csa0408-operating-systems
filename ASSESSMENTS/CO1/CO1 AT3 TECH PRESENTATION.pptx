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64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449271"/>
            <a:ext cx="12192000" cy="1008429"/>
          </a:xfrm>
        </p:spPr>
        <p:txBody>
          <a:bodyPr>
            <a:normAutofit/>
          </a:bodyPr>
          <a:lstStyle/>
          <a:p>
            <a:r>
              <a:rPr lang="nb-NO" sz="3600" dirty="0" smtClean="0">
                <a:latin typeface="Times New Roman" pitchFamily="18" charset="0"/>
                <a:cs typeface="Times New Roman" pitchFamily="18" charset="0"/>
              </a:rPr>
              <a:t>TECHNICAL PRESENTATION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467709"/>
            <a:ext cx="12192000" cy="550981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CSA0408 - OPERATING SYSTEMS</a:t>
            </a:r>
          </a:p>
          <a:p>
            <a:endParaRPr lang="en-US" sz="24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3030417"/>
            <a:ext cx="12192000" cy="515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CO1 – AT3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SIMATS ENGINEERING —BIOTECHN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425" y="367037"/>
            <a:ext cx="9609150" cy="1236377"/>
          </a:xfrm>
          <a:prstGeom prst="rect">
            <a:avLst/>
          </a:prstGeom>
          <a:noFill/>
          <a:extLst/>
        </p:spPr>
      </p:pic>
      <p:sp>
        <p:nvSpPr>
          <p:cNvPr id="6" name="Rectangle 5"/>
          <p:cNvSpPr/>
          <p:nvPr/>
        </p:nvSpPr>
        <p:spPr>
          <a:xfrm>
            <a:off x="0" y="4224634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Question 3 scenario: Real-time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embedded system used in traffic signal control.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943276" y="5165621"/>
            <a:ext cx="4302492" cy="12159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/>
            <a: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Subash G</a:t>
            </a:r>
            <a:b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 No - 192572150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439751" y="5160871"/>
            <a:ext cx="3023937" cy="1143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Guided by:</a:t>
            </a:r>
            <a:b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nb-NO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Vasavi J</a:t>
            </a:r>
          </a:p>
        </p:txBody>
      </p:sp>
    </p:spTree>
    <p:extLst>
      <p:ext uri="{BB962C8B-B14F-4D97-AF65-F5344CB8AC3E}">
        <p14:creationId xmlns:p14="http://schemas.microsoft.com/office/powerpoint/2010/main" val="312228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9317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756"/>
                </a:solidFill>
                <a:latin typeface="Aptos"/>
              </a:rPr>
              <a:t>Real-Time Traffic Signal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3756"/>
                </a:solidFill>
                <a:latin typeface="Aptos"/>
              </a:rPr>
              <a:t>Problem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4663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A traffic signal controller must respond to vehicle detection, timing events and emergency conditions within predictable time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4663440" cy="12344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6096"/>
                </a:solidFill>
                <a:latin typeface="Aptos"/>
              </a:rPr>
              <a:t>Key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054096"/>
            <a:ext cx="2880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3756"/>
                </a:solidFill>
                <a:latin typeface="Aptos"/>
              </a:rPr>
              <a:t>Predictable response + correct signal 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258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F3756"/>
                </a:solidFill>
                <a:latin typeface="Aptos"/>
              </a:rPr>
              <a:t>System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965960"/>
            <a:ext cx="1325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71032" y="2130552"/>
            <a:ext cx="117957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3756"/>
                </a:solidFill>
                <a:latin typeface="Aptos"/>
              </a:rPr>
              <a:t>Traffic
Sensors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9659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2130552"/>
            <a:ext cx="1271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3756"/>
                </a:solidFill>
                <a:latin typeface="Aptos"/>
              </a:rPr>
              <a:t>RTOS
Controller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19659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20072" y="2130552"/>
            <a:ext cx="1271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3756"/>
                </a:solidFill>
                <a:latin typeface="Aptos"/>
              </a:rPr>
              <a:t>Scheduler
&amp; Timers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862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9831" y="4050791"/>
            <a:ext cx="12710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3756"/>
                </a:solidFill>
                <a:latin typeface="Aptos"/>
              </a:rPr>
              <a:t>Signal
Lights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60" y="2423160"/>
            <a:ext cx="502919" cy="0"/>
          </a:xfrm>
          <a:prstGeom prst="line">
            <a:avLst/>
          </a:prstGeom>
          <a:ln w="2286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2423160"/>
            <a:ext cx="502920" cy="0"/>
          </a:xfrm>
          <a:prstGeom prst="line">
            <a:avLst/>
          </a:prstGeom>
          <a:ln w="2286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458200" y="2880360"/>
            <a:ext cx="1892808" cy="1005840"/>
          </a:xfrm>
          <a:prstGeom prst="line">
            <a:avLst/>
          </a:prstGeom>
          <a:ln w="2286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583680" y="2880360"/>
            <a:ext cx="1847088" cy="1005840"/>
          </a:xfrm>
          <a:prstGeom prst="line">
            <a:avLst/>
          </a:prstGeom>
          <a:ln w="2286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97880" y="5166360"/>
            <a:ext cx="5257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F6973"/>
                </a:solidFill>
                <a:latin typeface="Aptos"/>
              </a:rPr>
              <a:t>Sensors provide events → RTOS schedules tasks → controller updates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5F6973"/>
                </a:solidFill>
                <a:latin typeface="Aptos"/>
              </a:rPr>
              <a:t>1/6</a:t>
            </a: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0" y="23842"/>
            <a:ext cx="616980" cy="735630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10" y="139342"/>
            <a:ext cx="756716" cy="679948"/>
          </a:xfrm>
          <a:prstGeom prst="rect">
            <a:avLst/>
          </a:prstGeom>
        </p:spPr>
      </p:pic>
      <p:pic>
        <p:nvPicPr>
          <p:cNvPr id="1026" name="Picture 2" descr="A Complete Guide to Traffic Signals in India: Rules, Fines &amp; Safety Tip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65" y="4289257"/>
            <a:ext cx="4013735" cy="249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63056"/>
            <a:ext cx="9687365" cy="5227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F3756"/>
                </a:solidFill>
                <a:latin typeface="Aptos"/>
              </a:rPr>
              <a:t>Why a Real-Time Operating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2323"/>
                </a:solidFill>
                <a:latin typeface="Aptos"/>
              </a:rPr>
              <a:t>Traffic signal control is deadline-sensitive: the system must react within a predictable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148840" cy="502920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743200" cy="502920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192024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General-purpose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828800"/>
            <a:ext cx="2743200" cy="502920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192024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828800"/>
            <a:ext cx="2743200" cy="502920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Traffic signal need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31720"/>
            <a:ext cx="2148840" cy="621792"/>
          </a:xfrm>
          <a:prstGeom prst="rect">
            <a:avLst/>
          </a:prstGeom>
          <a:solidFill>
            <a:srgbClr val="F2F4F7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441448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3756"/>
                </a:solidFill>
                <a:latin typeface="Aptos"/>
              </a:rPr>
              <a:t>Response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33172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2441448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Can vary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33172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2441448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Predictable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33172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441448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Fast, bounded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953512"/>
            <a:ext cx="2148840" cy="621792"/>
          </a:xfrm>
          <a:prstGeom prst="rect">
            <a:avLst/>
          </a:prstGeom>
          <a:solidFill>
            <a:srgbClr val="F2F4F7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06324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3756"/>
                </a:solidFill>
                <a:latin typeface="Aptos"/>
              </a:rPr>
              <a:t>Scheduling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95351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80360" y="306324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General purpose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95351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306324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Priority-based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95351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3063240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Urgent events first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575304"/>
            <a:ext cx="2148840" cy="621792"/>
          </a:xfrm>
          <a:prstGeom prst="rect">
            <a:avLst/>
          </a:prstGeom>
          <a:solidFill>
            <a:srgbClr val="F2F4F7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685032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3756"/>
                </a:solidFill>
                <a:latin typeface="Aptos"/>
              </a:rPr>
              <a:t>Deadlines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7530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80360" y="368503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Not always guaranteed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57530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368503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Designed for deadlines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357530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368503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Timing must be respected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197096"/>
            <a:ext cx="2148840" cy="621792"/>
          </a:xfrm>
          <a:prstGeom prst="rect">
            <a:avLst/>
          </a:prstGeom>
          <a:solidFill>
            <a:srgbClr val="F2F4F7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06824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3756"/>
                </a:solidFill>
                <a:latin typeface="Aptos"/>
              </a:rPr>
              <a:t>Typical 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19709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80360" y="4306824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PCs / general servers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19709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15000" y="4306824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Embedded control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419709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0" y="4306824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232323"/>
                </a:solidFill>
                <a:latin typeface="Aptos"/>
              </a:rPr>
              <a:t>Traffic controller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166360"/>
            <a:ext cx="10515600" cy="658368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321808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3756"/>
                </a:solidFill>
                <a:latin typeface="Aptos"/>
              </a:rPr>
              <a:t>Conclusion: RTOS is appropriate because predictable timing and priority-based response are central to the application.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5F6973"/>
                </a:solidFill>
                <a:latin typeface="Aptos"/>
              </a:rPr>
              <a:t>2/6</a:t>
            </a:r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0" y="23842"/>
            <a:ext cx="616980" cy="735630"/>
          </a:xfrm>
          <a:prstGeom prst="rect">
            <a:avLst/>
          </a:prstGeom>
        </p:spPr>
      </p:pic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10" y="139342"/>
            <a:ext cx="756716" cy="679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137742"/>
            <a:ext cx="1067562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F3756"/>
                </a:solidFill>
                <a:latin typeface="Aptos"/>
              </a:rPr>
              <a:t>RTOS Architecture for Traffic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756"/>
                </a:solidFill>
                <a:latin typeface="Aptos"/>
              </a:rPr>
              <a:t>Application /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56231"/>
            <a:ext cx="140817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3756"/>
                </a:solidFill>
                <a:latin typeface="Aptos"/>
              </a:rPr>
              <a:t>Emergency
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91640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1856231"/>
            <a:ext cx="140817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3756"/>
                </a:solidFill>
                <a:latin typeface="Aptos"/>
              </a:rPr>
              <a:t>Traffic
density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856231"/>
            <a:ext cx="140817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3756"/>
                </a:solidFill>
                <a:latin typeface="Aptos"/>
              </a:rPr>
              <a:t>Signal
sequencing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91640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2" y="1856231"/>
            <a:ext cx="1408176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3756"/>
                </a:solidFill>
                <a:latin typeface="Aptos"/>
              </a:rPr>
              <a:t>Data
logging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26080"/>
            <a:ext cx="7315200" cy="132588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13639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F3756"/>
                </a:solidFill>
                <a:latin typeface="Aptos"/>
              </a:rPr>
              <a:t>RTOS KERNEL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06324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70632" y="3227832"/>
            <a:ext cx="11795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06096"/>
                </a:solidFill>
                <a:latin typeface="Aptos"/>
              </a:rPr>
              <a:t>Scheduler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306324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96512" y="3227832"/>
            <a:ext cx="11795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27D52"/>
                </a:solidFill>
                <a:latin typeface="Aptos"/>
              </a:rPr>
              <a:t>Task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306324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0992" y="3227832"/>
            <a:ext cx="11795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BE8223"/>
                </a:solidFill>
                <a:latin typeface="Aptos"/>
              </a:rPr>
              <a:t>Timer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06324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8312" y="3227832"/>
            <a:ext cx="11795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A4141"/>
                </a:solidFill>
                <a:latin typeface="Aptos"/>
              </a:rPr>
              <a:t>Synchronization / IPC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7315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78231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756"/>
                </a:solidFill>
                <a:latin typeface="Aptos"/>
              </a:rPr>
              <a:t>Hardware / I-O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754880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Sensors  •  GPIO  •  Timers  •  Traffic lights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00200" y="2514600"/>
            <a:ext cx="0" cy="411480"/>
          </a:xfrm>
          <a:prstGeom prst="line">
            <a:avLst/>
          </a:prstGeom>
          <a:ln w="1524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20440" y="2514600"/>
            <a:ext cx="0" cy="411480"/>
          </a:xfrm>
          <a:prstGeom prst="line">
            <a:avLst/>
          </a:prstGeom>
          <a:ln w="1524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40680" y="2514600"/>
            <a:ext cx="0" cy="411480"/>
          </a:xfrm>
          <a:prstGeom prst="line">
            <a:avLst/>
          </a:prstGeom>
          <a:ln w="1524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60920" y="2514600"/>
            <a:ext cx="0" cy="411480"/>
          </a:xfrm>
          <a:prstGeom prst="line">
            <a:avLst/>
          </a:prstGeom>
          <a:ln w="1524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60" y="4251960"/>
            <a:ext cx="0" cy="320040"/>
          </a:xfrm>
          <a:prstGeom prst="line">
            <a:avLst/>
          </a:prstGeom>
          <a:ln w="1778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41080" y="1600200"/>
            <a:ext cx="2788920" cy="3749039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CD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15400" y="1874519"/>
            <a:ext cx="2240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3756"/>
                </a:solidFill>
                <a:latin typeface="Aptos"/>
              </a:rPr>
              <a:t>How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423160"/>
            <a:ext cx="2148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1. Sensors create events
2. Tasks request kernel services
3. Scheduler selects the next task
4. Timers maintain signal phases
5. I/O updates the lights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5F6973"/>
                </a:solidFill>
                <a:latin typeface="Aptos"/>
              </a:rPr>
              <a:t>3/6</a:t>
            </a:r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0" y="23842"/>
            <a:ext cx="616980" cy="735630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10" y="139342"/>
            <a:ext cx="756716" cy="679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42687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F3756"/>
                </a:solidFill>
                <a:latin typeface="Aptos"/>
              </a:rPr>
              <a:t>Task Scheduling and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5F6973"/>
                </a:solidFill>
                <a:latin typeface="Aptos"/>
              </a:rPr>
              <a:t>Process/task control in the traffic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Higher-priority events can require immediate attention.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" y="1993392"/>
            <a:ext cx="502920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002536"/>
            <a:ext cx="4297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A4141"/>
                </a:solidFill>
                <a:latin typeface="Aptos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4767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3756"/>
                </a:solidFill>
                <a:latin typeface="Aptos"/>
              </a:rPr>
              <a:t>Emergency vehicle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947672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5F6973"/>
                </a:solidFill>
                <a:latin typeface="Aptos"/>
              </a:rPr>
              <a:t>Immediate signal override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87752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2752344"/>
            <a:ext cx="502920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761488"/>
            <a:ext cx="4297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BE8223"/>
                </a:solidFill>
                <a:latin typeface="Aptos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706624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3756"/>
                </a:solidFill>
                <a:latin typeface="Aptos"/>
              </a:rPr>
              <a:t>Traffic density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70662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5F6973"/>
                </a:solidFill>
                <a:latin typeface="Aptos"/>
              </a:rPr>
              <a:t>Adjust phase duration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46704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3511296"/>
            <a:ext cx="502920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3520440"/>
            <a:ext cx="4297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27D52"/>
                </a:solidFill>
                <a:latin typeface="Aptos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465576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3756"/>
                </a:solidFill>
                <a:latin typeface="Aptos"/>
              </a:rPr>
              <a:t>Signal sequencing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65576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5F6973"/>
                </a:solidFill>
                <a:latin typeface="Aptos"/>
              </a:rPr>
              <a:t>Normal light 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05656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4270248"/>
            <a:ext cx="502920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279392"/>
            <a:ext cx="4297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06096"/>
                </a:solidFill>
                <a:latin typeface="Aptos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2452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3756"/>
                </a:solidFill>
                <a:latin typeface="Aptos"/>
              </a:rPr>
              <a:t>Traffic data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224528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5F6973"/>
                </a:solidFill>
                <a:latin typeface="Aptos"/>
              </a:rPr>
              <a:t>Background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23444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3756"/>
                </a:solidFill>
                <a:latin typeface="Aptos"/>
              </a:rPr>
              <a:t>Illustrative execution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78308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ptos"/>
              </a:rPr>
              <a:t>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178308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ptos"/>
              </a:rPr>
              <a:t>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178308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ptos"/>
              </a:rPr>
              <a:t>10s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178308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ptos"/>
              </a:rPr>
              <a:t>15s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78308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ptos"/>
              </a:rPr>
              <a:t>20s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12280" y="2057400"/>
            <a:ext cx="0" cy="3017520"/>
          </a:xfrm>
          <a:prstGeom prst="line">
            <a:avLst/>
          </a:prstGeom>
          <a:ln w="889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26679" y="2057400"/>
            <a:ext cx="0" cy="3017520"/>
          </a:xfrm>
          <a:prstGeom prst="line">
            <a:avLst/>
          </a:prstGeom>
          <a:ln w="889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41080" y="2057400"/>
            <a:ext cx="0" cy="3017520"/>
          </a:xfrm>
          <a:prstGeom prst="line">
            <a:avLst/>
          </a:prstGeom>
          <a:ln w="889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55480" y="2057400"/>
            <a:ext cx="0" cy="3017520"/>
          </a:xfrm>
          <a:prstGeom prst="line">
            <a:avLst/>
          </a:prstGeom>
          <a:ln w="889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69880" y="2057400"/>
            <a:ext cx="0" cy="3017520"/>
          </a:xfrm>
          <a:prstGeom prst="line">
            <a:avLst/>
          </a:prstGeom>
          <a:ln w="8890">
            <a:solidFill>
              <a:srgbClr val="CD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72200" y="24048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F6973"/>
                </a:solidFill>
                <a:latin typeface="Aptos"/>
              </a:rPr>
              <a:t>Emergency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50224" y="2331720"/>
            <a:ext cx="713232" cy="438912"/>
          </a:xfrm>
          <a:prstGeom prst="roundRect">
            <a:avLst/>
          </a:prstGeom>
          <a:solidFill>
            <a:srgbClr val="AA4141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50224" y="2423160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0906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F6973"/>
                </a:solidFill>
                <a:latin typeface="Aptos"/>
              </a:rPr>
              <a:t>Density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017520"/>
            <a:ext cx="713232" cy="438912"/>
          </a:xfrm>
          <a:prstGeom prst="roundRect">
            <a:avLst/>
          </a:prstGeom>
          <a:solidFill>
            <a:srgbClr val="BE8223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108960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54112" y="3017520"/>
            <a:ext cx="713232" cy="438912"/>
          </a:xfrm>
          <a:prstGeom prst="roundRect">
            <a:avLst/>
          </a:prstGeom>
          <a:solidFill>
            <a:srgbClr val="BE8223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54112" y="3108960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50224" y="3017520"/>
            <a:ext cx="713232" cy="438912"/>
          </a:xfrm>
          <a:prstGeom prst="roundRect">
            <a:avLst/>
          </a:prstGeom>
          <a:solidFill>
            <a:srgbClr val="BE8223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50224" y="3108960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37764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F6973"/>
                </a:solidFill>
                <a:latin typeface="Aptos"/>
              </a:rPr>
              <a:t>Signal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3703320"/>
            <a:ext cx="713232" cy="438912"/>
          </a:xfrm>
          <a:prstGeom prst="roundRect">
            <a:avLst/>
          </a:prstGeom>
          <a:solidFill>
            <a:srgbClr val="427D52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0" y="37947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54112" y="3703320"/>
            <a:ext cx="713232" cy="438912"/>
          </a:xfrm>
          <a:prstGeom prst="roundRect">
            <a:avLst/>
          </a:prstGeom>
          <a:solidFill>
            <a:srgbClr val="427D52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54112" y="37947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50224" y="3703320"/>
            <a:ext cx="713232" cy="438912"/>
          </a:xfrm>
          <a:prstGeom prst="roundRect">
            <a:avLst/>
          </a:prstGeom>
          <a:solidFill>
            <a:srgbClr val="427D52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50224" y="37947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46336" y="3703320"/>
            <a:ext cx="713232" cy="438912"/>
          </a:xfrm>
          <a:prstGeom prst="roundRect">
            <a:avLst/>
          </a:prstGeom>
          <a:solidFill>
            <a:srgbClr val="427D52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46336" y="37947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4462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5F6973"/>
                </a:solidFill>
                <a:latin typeface="Aptos"/>
              </a:rPr>
              <a:t>Logging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4389120"/>
            <a:ext cx="713232" cy="438912"/>
          </a:xfrm>
          <a:prstGeom prst="roundRect">
            <a:avLst/>
          </a:prstGeom>
          <a:solidFill>
            <a:srgbClr val="306096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8000" y="44805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54112" y="4389120"/>
            <a:ext cx="713232" cy="438912"/>
          </a:xfrm>
          <a:prstGeom prst="roundRect">
            <a:avLst/>
          </a:prstGeom>
          <a:solidFill>
            <a:srgbClr val="306096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54112" y="44805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50224" y="4389120"/>
            <a:ext cx="713232" cy="438912"/>
          </a:xfrm>
          <a:prstGeom prst="roundRect">
            <a:avLst/>
          </a:prstGeom>
          <a:solidFill>
            <a:srgbClr val="306096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50224" y="44805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46336" y="4389120"/>
            <a:ext cx="713232" cy="438912"/>
          </a:xfrm>
          <a:prstGeom prst="roundRect">
            <a:avLst/>
          </a:prstGeom>
          <a:solidFill>
            <a:srgbClr val="306096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546336" y="4480559"/>
            <a:ext cx="71323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5230368"/>
            <a:ext cx="4983480" cy="502920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65392" y="5340096"/>
            <a:ext cx="4663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F3756"/>
                </a:solidFill>
                <a:latin typeface="Aptos"/>
              </a:rPr>
              <a:t>Example: emergency task pre-empts normal work.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5F6973"/>
                </a:solidFill>
                <a:latin typeface="Aptos"/>
              </a:rPr>
              <a:t>4/6</a:t>
            </a:r>
          </a:p>
        </p:txBody>
      </p:sp>
      <p:pic>
        <p:nvPicPr>
          <p:cNvPr id="6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0" y="103472"/>
            <a:ext cx="616980" cy="735630"/>
          </a:xfrm>
          <a:prstGeom prst="rect">
            <a:avLst/>
          </a:prstGeom>
        </p:spPr>
      </p:pic>
      <p:pic>
        <p:nvPicPr>
          <p:cNvPr id="7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10" y="139342"/>
            <a:ext cx="756716" cy="679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4616" y="113097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F3756"/>
                </a:solidFill>
                <a:latin typeface="Aptos"/>
              </a:rPr>
              <a:t>System Calls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70297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5F6973"/>
                </a:solidFill>
                <a:latin typeface="Aptos"/>
              </a:rPr>
              <a:t>Application tasks interact with the kernel through controlled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743200" cy="41148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F3756"/>
                </a:solidFill>
                <a:latin typeface="Aptos"/>
              </a:rPr>
              <a:t>APPLICATION /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194560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323"/>
                </a:solidFill>
                <a:latin typeface="Aptos"/>
              </a:rPr>
              <a:t>Sensor processing
Signal sequencing
Emergency handling
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956048"/>
            <a:ext cx="2011680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" y="4965192"/>
            <a:ext cx="19385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06096"/>
                </a:solidFill>
                <a:latin typeface="Aptos"/>
              </a:rPr>
              <a:t>REQUEST KERNEL SERVICE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3474720"/>
            <a:ext cx="640080" cy="0"/>
          </a:xfrm>
          <a:prstGeom prst="line">
            <a:avLst/>
          </a:prstGeom>
          <a:ln w="2540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29000" y="312724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F6973"/>
                </a:solidFill>
                <a:latin typeface="Aptos"/>
              </a:rPr>
              <a:t>system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417320"/>
            <a:ext cx="3749039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3756"/>
                </a:solidFill>
                <a:latin typeface="Aptos"/>
              </a:rPr>
              <a:t>RTOS KERNEL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31720"/>
            <a:ext cx="3017520" cy="6583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AA4141"/>
                </a:solidFill>
                <a:latin typeface="Aptos"/>
              </a:rPr>
              <a:t>Task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42316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Aptos"/>
              </a:rPr>
              <a:t>create • terminate • 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090672"/>
            <a:ext cx="3017520" cy="6583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18211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BE8223"/>
                </a:solidFill>
                <a:latin typeface="Aptos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182112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Aptos"/>
              </a:rPr>
              <a:t>timer • periodic delay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849624"/>
            <a:ext cx="3017520" cy="6583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941063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427D52"/>
                </a:solidFill>
                <a:latin typeface="Aptos"/>
              </a:rPr>
              <a:t>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941063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Aptos"/>
              </a:rPr>
              <a:t>semaphore • mutex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608576"/>
            <a:ext cx="3017520" cy="6583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700016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306096"/>
                </a:solidFill>
                <a:latin typeface="Aptos"/>
              </a:rPr>
              <a:t>I/O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700016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Aptos"/>
              </a:rPr>
              <a:t>sensor • signal device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18120" y="3474720"/>
            <a:ext cx="640080" cy="0"/>
          </a:xfrm>
          <a:prstGeom prst="line">
            <a:avLst/>
          </a:prstGeom>
          <a:ln w="2540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58200" y="1417320"/>
            <a:ext cx="3017520" cy="41148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17373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F3756"/>
                </a:solidFill>
                <a:latin typeface="Aptos"/>
              </a:rPr>
              <a:t>HARDWARE / I-O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560320"/>
            <a:ext cx="21945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32323"/>
                </a:solidFill>
                <a:latin typeface="Aptos"/>
              </a:rPr>
              <a:t>Sensors
↓
GPIO / Timers
↓
Traffic 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70916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F6973"/>
                </a:solidFill>
                <a:latin typeface="Aptos"/>
              </a:rPr>
              <a:t>The application requests services; the kernel manages controlled hardware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5F6973"/>
                </a:solidFill>
                <a:latin typeface="Aptos"/>
              </a:rPr>
              <a:t>5/6</a:t>
            </a:r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6" y="108987"/>
            <a:ext cx="616980" cy="735630"/>
          </a:xfrm>
          <a:prstGeom prst="rect">
            <a:avLst/>
          </a:prstGeom>
        </p:spPr>
      </p:pic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10" y="139342"/>
            <a:ext cx="756716" cy="679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85286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1F3756"/>
                </a:solidFill>
                <a:latin typeface="Aptos"/>
              </a:rPr>
              <a:t>Complete Working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4088" y="1664208"/>
            <a:ext cx="384048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30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67335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0609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306096"/>
                </a:solidFill>
                <a:latin typeface="Apto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F6973"/>
                </a:solidFill>
                <a:latin typeface="Aptos"/>
              </a:rPr>
              <a:t>Sensor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0876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90088" y="1664208"/>
            <a:ext cx="384048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BE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26664" y="167335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BE822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933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BE8223"/>
                </a:solidFill>
                <a:latin typeface="Aptos"/>
              </a:rPr>
              <a:t>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59152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F6973"/>
                </a:solidFill>
                <a:latin typeface="Aptos"/>
              </a:rPr>
              <a:t>Interrupt /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50876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76088" y="1664208"/>
            <a:ext cx="384048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12664" y="167335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375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933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F3756"/>
                </a:solidFill>
                <a:latin typeface="Aptos"/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59152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F6973"/>
                </a:solidFill>
                <a:latin typeface="Aptos"/>
              </a:rPr>
              <a:t>RTOS priority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0876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62088" y="1664208"/>
            <a:ext cx="384048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42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98663" y="167335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427D52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9933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427D52"/>
                </a:solidFill>
                <a:latin typeface="Aptos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59152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F6973"/>
                </a:solidFill>
                <a:latin typeface="Aptos"/>
              </a:rPr>
              <a:t>Timer / phase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508760"/>
            <a:ext cx="1828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48088" y="1664208"/>
            <a:ext cx="384048" cy="329184"/>
          </a:xfrm>
          <a:prstGeom prst="roundRect">
            <a:avLst/>
          </a:prstGeom>
          <a:solidFill>
            <a:srgbClr val="E1ECF7"/>
          </a:solidFill>
          <a:ln w="1270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4663" y="167335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A4141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99339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AA4141"/>
                </a:solidFill>
                <a:latin typeface="Aptos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359152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F6973"/>
                </a:solidFill>
                <a:latin typeface="Aptos"/>
              </a:rPr>
              <a:t>Signal output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2176272"/>
            <a:ext cx="457200" cy="0"/>
          </a:xfrm>
          <a:prstGeom prst="line">
            <a:avLst/>
          </a:prstGeom>
          <a:ln w="2159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09160" y="2176272"/>
            <a:ext cx="457200" cy="0"/>
          </a:xfrm>
          <a:prstGeom prst="line">
            <a:avLst/>
          </a:prstGeom>
          <a:ln w="2159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95160" y="2176272"/>
            <a:ext cx="457200" cy="0"/>
          </a:xfrm>
          <a:prstGeom prst="line">
            <a:avLst/>
          </a:prstGeom>
          <a:ln w="2159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81160" y="2176272"/>
            <a:ext cx="457200" cy="0"/>
          </a:xfrm>
          <a:prstGeom prst="line">
            <a:avLst/>
          </a:prstGeom>
          <a:ln w="21590">
            <a:solidFill>
              <a:srgbClr val="30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333756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3756"/>
                </a:solidFill>
                <a:latin typeface="Aptos"/>
              </a:rPr>
              <a:t>What the system demonstrates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8404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06096"/>
                </a:solidFill>
                <a:latin typeface="Aptos"/>
              </a:rPr>
              <a:t>OS 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84048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2323"/>
                </a:solidFill>
                <a:latin typeface="Aptos"/>
              </a:rPr>
              <a:t>Real-Time Operating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407408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06096"/>
                </a:solidFill>
                <a:latin typeface="Aptos"/>
              </a:rPr>
              <a:t>Core mechanism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407408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2323"/>
                </a:solidFill>
                <a:latin typeface="Aptos"/>
              </a:rPr>
              <a:t>Priority scheduling + timers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974336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06096"/>
                </a:solidFill>
                <a:latin typeface="Aptos"/>
              </a:rPr>
              <a:t>Kernel interaction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974336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2323"/>
                </a:solidFill>
                <a:latin typeface="Aptos"/>
              </a:rPr>
              <a:t>System calls for control and timing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3401568"/>
            <a:ext cx="4892040" cy="196596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1F3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703320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F3756"/>
                </a:solidFill>
                <a:latin typeface="Aptos"/>
              </a:rPr>
              <a:t>FINAL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224528"/>
            <a:ext cx="41605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RTOS combines predictable scheduling, timing and kernel services to control traffic signals.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892040"/>
            <a:ext cx="4160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F6973"/>
                </a:solidFill>
                <a:latin typeface="Aptos"/>
              </a:rPr>
              <a:t>A practical OS design for a deadline-sensitive embedded system.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5F6973"/>
                </a:solidFill>
                <a:latin typeface="Aptos"/>
              </a:rPr>
              <a:t>6/6</a:t>
            </a:r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8" y="46071"/>
            <a:ext cx="616980" cy="735630"/>
          </a:xfrm>
          <a:prstGeom prst="rect">
            <a:avLst/>
          </a:prstGeom>
        </p:spPr>
      </p:pic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310" y="139342"/>
            <a:ext cx="756716" cy="679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482" y="202129"/>
            <a:ext cx="4843914" cy="645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83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422</Words>
  <Application>Microsoft Office PowerPoint</Application>
  <PresentationFormat>Custom</PresentationFormat>
  <Paragraphs>144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TECHNICAL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2026-10-03T08:31:29Z</dcterms:modified>
  <cp:category/>
</cp:coreProperties>
</file>